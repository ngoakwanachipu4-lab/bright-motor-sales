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C1-457C-87FE-71584491F7B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FC1-457C-87FE-71584491F7B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FC1-457C-87FE-71584491F7BF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FC1-457C-87FE-71584491F7BF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FC1-457C-87FE-71584491F7BF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FC1-457C-87FE-71584491F7BF}"/>
              </c:ext>
            </c:extLst>
          </c:dPt>
          <c:dPt>
            <c:idx val="6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FC1-457C-87FE-71584491F7BF}"/>
              </c:ext>
            </c:extLst>
          </c:dPt>
          <c:dPt>
            <c:idx val="7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FC1-457C-87FE-71584491F7BF}"/>
              </c:ext>
            </c:extLst>
          </c:dPt>
          <c:dPt>
            <c:idx val="8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FC1-457C-87FE-71584491F7BF}"/>
              </c:ext>
            </c:extLst>
          </c:dPt>
          <c:dPt>
            <c:idx val="9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FC1-457C-87FE-71584491F7BF}"/>
              </c:ext>
            </c:extLst>
          </c:dPt>
          <c:cat>
            <c:strRef>
              <c:f>Sheet1!$A$2:$A$11</c:f>
              <c:strCache>
                <c:ptCount val="10"/>
                <c:pt idx="0">
                  <c:v>Ford</c:v>
                </c:pt>
                <c:pt idx="1">
                  <c:v>Chevrolet</c:v>
                </c:pt>
                <c:pt idx="2">
                  <c:v>Nissan</c:v>
                </c:pt>
                <c:pt idx="3">
                  <c:v>Toyota</c:v>
                </c:pt>
                <c:pt idx="4">
                  <c:v>BMW</c:v>
                </c:pt>
                <c:pt idx="5">
                  <c:v>Mercedes-Benz</c:v>
                </c:pt>
                <c:pt idx="6">
                  <c:v>Dodge</c:v>
                </c:pt>
                <c:pt idx="7">
                  <c:v>Infiniti</c:v>
                </c:pt>
                <c:pt idx="8">
                  <c:v>Honda</c:v>
                </c:pt>
                <c:pt idx="9">
                  <c:v>Lexus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1.36</c:v>
                </c:pt>
                <c:pt idx="1">
                  <c:v>0.72</c:v>
                </c:pt>
                <c:pt idx="2">
                  <c:v>0.63</c:v>
                </c:pt>
                <c:pt idx="3">
                  <c:v>0.49</c:v>
                </c:pt>
                <c:pt idx="4">
                  <c:v>0.44</c:v>
                </c:pt>
                <c:pt idx="5">
                  <c:v>0.37</c:v>
                </c:pt>
                <c:pt idx="6">
                  <c:v>0.34</c:v>
                </c:pt>
                <c:pt idx="7">
                  <c:v>0.31</c:v>
                </c:pt>
                <c:pt idx="8">
                  <c:v>0.3</c:v>
                </c:pt>
                <c:pt idx="9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FC1-457C-87FE-71584491F7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Avg Price by Model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Selling Price ($)</c:v>
                </c:pt>
              </c:strCache>
            </c:strRef>
          </c:tx>
          <c:spPr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9508</c:v>
                </c:pt>
                <c:pt idx="1">
                  <c:v>10462</c:v>
                </c:pt>
                <c:pt idx="2">
                  <c:v>12413</c:v>
                </c:pt>
                <c:pt idx="3">
                  <c:v>15852</c:v>
                </c:pt>
                <c:pt idx="4">
                  <c:v>16654</c:v>
                </c:pt>
                <c:pt idx="5">
                  <c:v>17477</c:v>
                </c:pt>
                <c:pt idx="6">
                  <c:v>20090</c:v>
                </c:pt>
                <c:pt idx="7">
                  <c:v>25966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528-4C5F-A1AB-2A264425B5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Avg Mileage by Model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Odometer (mi)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101555</c:v>
                </c:pt>
                <c:pt idx="1">
                  <c:v>92079</c:v>
                </c:pt>
                <c:pt idx="2">
                  <c:v>80931</c:v>
                </c:pt>
                <c:pt idx="3">
                  <c:v>59279</c:v>
                </c:pt>
                <c:pt idx="4">
                  <c:v>42633</c:v>
                </c:pt>
                <c:pt idx="5">
                  <c:v>36609</c:v>
                </c:pt>
                <c:pt idx="6">
                  <c:v>21309</c:v>
                </c:pt>
                <c:pt idx="7">
                  <c:v>12229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873-47DE-8BB6-925DA80681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Revenue by Region ($B)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DB0-408B-AD00-5C39C113D0E8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B0-408B-AD00-5C39C113D0E8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B0-408B-AD00-5C39C113D0E8}"/>
              </c:ext>
            </c:extLst>
          </c:dPt>
          <c:dPt>
            <c:idx val="3"/>
            <c:invertIfNegative val="0"/>
            <c:bubble3D val="0"/>
            <c:spPr>
              <a:solidFill>
                <a:srgbClr val="A7F3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DB0-408B-AD00-5C39C113D0E8}"/>
              </c:ext>
            </c:extLst>
          </c:dPt>
          <c:cat>
            <c:strRef>
              <c:f>Sheet1!$A$2:$A$5</c:f>
              <c:strCache>
                <c:ptCount val="4"/>
                <c:pt idx="0">
                  <c:v>North East</c:v>
                </c:pt>
                <c:pt idx="1">
                  <c:v>West</c:v>
                </c:pt>
                <c:pt idx="2">
                  <c:v>Mid West</c:v>
                </c:pt>
                <c:pt idx="3">
                  <c:v>South 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</c:v>
                </c:pt>
                <c:pt idx="1">
                  <c:v>1.18</c:v>
                </c:pt>
                <c:pt idx="2">
                  <c:v>0.89</c:v>
                </c:pt>
                <c:pt idx="3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DB0-408B-AD00-5C39C113D0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Unit Share by Region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B88-41BD-8EDC-584C09E61AC8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88-41BD-8EDC-584C09E61AC8}"/>
              </c:ext>
            </c:extLst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88-41BD-8EDC-584C09E61AC8}"/>
              </c:ext>
            </c:extLst>
          </c:dPt>
          <c:dPt>
            <c:idx val="3"/>
            <c:bubble3D val="0"/>
            <c:spPr>
              <a:solidFill>
                <a:srgbClr val="A7F3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88-41BD-8EDC-584C09E61AC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B88-41BD-8EDC-584C09E61AC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B88-41BD-8EDC-584C09E61AC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B88-41BD-8EDC-584C09E61AC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B88-41BD-8EDC-584C09E61AC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 East</c:v>
                </c:pt>
                <c:pt idx="1">
                  <c:v>West</c:v>
                </c:pt>
                <c:pt idx="2">
                  <c:v>Mid West</c:v>
                </c:pt>
                <c:pt idx="3">
                  <c:v>South 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87390</c:v>
                </c:pt>
                <c:pt idx="1">
                  <c:v>81719</c:v>
                </c:pt>
                <c:pt idx="2">
                  <c:v>60564</c:v>
                </c:pt>
                <c:pt idx="3">
                  <c:v>54824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88-41BD-8EDC-584C09E61A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Sales by Vehicle Segment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2EC-4B4B-9E2B-E33337028143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2EC-4B4B-9E2B-E33337028143}"/>
              </c:ext>
            </c:extLst>
          </c:dPt>
          <c:dPt>
            <c:idx val="2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2EC-4B4B-9E2B-E3333702814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EC-4B4B-9E2B-E3333702814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C-4B4B-9E2B-E3333702814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2EC-4B4B-9E2B-E3333702814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Passenger Car</c:v>
                </c:pt>
                <c:pt idx="1">
                  <c:v>SUV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214031</c:v>
                </c:pt>
                <c:pt idx="1">
                  <c:v>119292</c:v>
                </c:pt>
                <c:pt idx="2">
                  <c:v>225476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EC-4B4B-9E2B-E333370281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Profit Band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8A5-4936-9406-3B39C3FD573A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A5-4936-9406-3B39C3FD573A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8A5-4936-9406-3B39C3FD573A}"/>
              </c:ext>
            </c:extLst>
          </c:dPt>
          <c:cat>
            <c:strRef>
              <c:f>Sheet1!$A$2:$A$4</c:f>
              <c:strCache>
                <c:ptCount val="3"/>
                <c:pt idx="0">
                  <c:v>Negative Margin</c:v>
                </c:pt>
                <c:pt idx="1">
                  <c:v>Positive Margin</c:v>
                </c:pt>
                <c:pt idx="2">
                  <c:v>High Margin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286427</c:v>
                </c:pt>
                <c:pt idx="1">
                  <c:v>261666</c:v>
                </c:pt>
                <c:pt idx="2">
                  <c:v>10718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A5-4936-9406-3B39C3FD57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562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0E7C7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 CAR SALES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kern="0" spc="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REPORT BY SONIA CHIPU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41148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Insights  •  Regional Performance  •  Pricing Trends  •  Strategic Recommendations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920240" cy="1188720"/>
          </a:xfrm>
          <a:prstGeom prst="rect">
            <a:avLst/>
          </a:prstGeom>
          <a:solidFill>
            <a:srgbClr val="0E7C7B">
              <a:alpha val="30000"/>
            </a:srgbClr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547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558,811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096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3474720"/>
            <a:ext cx="1920240" cy="1188720"/>
          </a:xfrm>
          <a:prstGeom prst="rect">
            <a:avLst/>
          </a:prstGeom>
          <a:solidFill>
            <a:srgbClr val="0E7C7B">
              <a:alpha val="30000"/>
            </a:srgbClr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7480" y="3547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Ford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97480" y="4096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Top Make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3474720"/>
            <a:ext cx="1920240" cy="1188720"/>
          </a:xfrm>
          <a:prstGeom prst="rect">
            <a:avLst/>
          </a:prstGeom>
          <a:solidFill>
            <a:srgbClr val="0E7C7B">
              <a:alpha val="30000"/>
            </a:srgbClr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547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47%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4096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Positive Margin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95160" y="3474720"/>
            <a:ext cx="1920240" cy="1188720"/>
          </a:xfrm>
          <a:prstGeom prst="rect">
            <a:avLst/>
          </a:prstGeom>
          <a:solidFill>
            <a:srgbClr val="0E7C7B">
              <a:alpha val="30000"/>
            </a:srgbClr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95160" y="3547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SUV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4096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High-Value Segment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CAR MAKES BY REVENUE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2 of 8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77724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868680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35040" y="868680"/>
            <a:ext cx="54864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72200" y="9052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$1.36B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172200" y="1307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Ford — #1 Revenue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1892808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035040" y="1892808"/>
            <a:ext cx="54864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72200" y="19293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93,553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17220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Ford Units Sold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916936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35040" y="2916936"/>
            <a:ext cx="54864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72200" y="29535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$25.4K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172200" y="3355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BMW Avg Unit Price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3941064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035040" y="3941064"/>
            <a:ext cx="54864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72200" y="3977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2x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172200" y="4379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Ford vs. #3 Nissan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HIGHEST REVENUE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3 of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54864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886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#1  Ford F-150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8869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7C7B"/>
                </a:solidFill>
              </a:rPr>
              <a:t>$272.7M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408176"/>
            <a:ext cx="3749040" cy="1097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408176"/>
            <a:ext cx="3749040" cy="1097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865376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865376"/>
            <a:ext cx="54864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9110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#2  Nissan Altima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19110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7C7B"/>
                </a:solidFill>
              </a:rPr>
              <a:t>$221.0M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432304"/>
            <a:ext cx="3749040" cy="1097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2432304"/>
            <a:ext cx="3036722" cy="1097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889504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54864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935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#3  Ford Escape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9352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7C7B"/>
                </a:solidFill>
              </a:rPr>
              <a:t>$165.9M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456432"/>
            <a:ext cx="3749040" cy="1097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3456432"/>
            <a:ext cx="2286914" cy="1097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913632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913632"/>
            <a:ext cx="54864" cy="868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59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#4  Ford Fusion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39593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7C7B"/>
                </a:solidFill>
              </a:rPr>
              <a:t>$159.9M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4480560"/>
            <a:ext cx="3749040" cy="1097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" y="4480560"/>
            <a:ext cx="2211934" cy="1097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841248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841248"/>
            <a:ext cx="54864" cy="868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886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#5  Infiniti G Sedan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35240" y="8869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7C7B"/>
                </a:solidFill>
              </a:rPr>
              <a:t>$147.9M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37760" y="1408176"/>
            <a:ext cx="3749040" cy="1097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37760" y="1408176"/>
            <a:ext cx="2024482" cy="1097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1865376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1865376"/>
            <a:ext cx="54864" cy="868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0" y="19110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#6  Ford Explorer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35240" y="19110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7C7B"/>
                </a:solidFill>
              </a:rPr>
              <a:t>$140.3M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937760" y="2432304"/>
            <a:ext cx="3749040" cy="1097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37760" y="2432304"/>
            <a:ext cx="1912010" cy="1097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00600" y="2889504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00600" y="2889504"/>
            <a:ext cx="54864" cy="868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7760" y="2935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#7  Toyota Camry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635240" y="29352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7C7B"/>
                </a:solidFill>
              </a:rPr>
              <a:t>$140.2M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937760" y="3456432"/>
            <a:ext cx="3749040" cy="1097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937760" y="3456432"/>
            <a:ext cx="1912010" cy="1097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800600" y="3913632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00600" y="3913632"/>
            <a:ext cx="54864" cy="868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37760" y="3959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#8  BMW 3 Series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635240" y="39593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7C7B"/>
                </a:solidFill>
              </a:rPr>
              <a:t>$137.9M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937760" y="4480560"/>
            <a:ext cx="3749040" cy="1097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937760" y="4480560"/>
            <a:ext cx="1912010" cy="1097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PRICE, MILEAGE &amp; YEAR RELATIONSHIP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4 of 8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22960"/>
          <a:ext cx="42976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800600" y="82296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3246120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20040" y="324612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7B"/>
                </a:solidFill>
              </a:rPr>
              <a:t>↑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32918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Newer model years (2014–2015) command 2.7x the price of 2008 models.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3813048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20040" y="381304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7B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68680" y="38587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Mileage drops sharply for newer years: 2015 averages just 12K miles vs 101K for 2008.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4379976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20040" y="437997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7B"/>
                </a:solidFill>
              </a:rPr>
              <a:t>⟷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68680" y="44256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Strong inverse correlation: lower odometer = significantly higher resale value.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SALES PERFORMANCE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5 of 8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2296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394960" y="822960"/>
          <a:ext cx="35204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160520"/>
            <a:ext cx="8595360" cy="502920"/>
          </a:xfrm>
          <a:prstGeom prst="rect">
            <a:avLst/>
          </a:prstGeom>
          <a:solidFill>
            <a:srgbClr val="0E7C7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57200" y="4206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★  North East leads both revenue ($1.30B) and units (87K), followed closely by the West ($1.18B). Combined, these two regions account for over 59% of total identified regional sales.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EMERGING CUSTOMER TRENDS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6 of 8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22960"/>
          <a:ext cx="3657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206240" y="822960"/>
          <a:ext cx="46634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069080"/>
            <a:ext cx="54864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57200" y="40690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SUVs are the fastest-growing segment — commanding higher avg prices than sedans.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" y="4416552"/>
            <a:ext cx="54864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44165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Passenger cars still dominate volume (38%) but face margin pressure.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4764024"/>
            <a:ext cx="54864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" y="47640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51% of transactions fell into Negative Margin territory — a key profitability risk.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502920" cy="6858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424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Prioritize Ford &amp; Chevrolet Inventory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3502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Ford generates 2x the revenue of the #3 brand. Maintain deep F-150, Escape, and Fusion inventory to capitalize on proven demand.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801368"/>
            <a:ext cx="83210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801368"/>
            <a:ext cx="50292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801368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8379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Expand SUV Portfolio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305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SUVs show the highest avg unit prices. Growing this segment with 2013+ model years can significantly boost revenue per transaction.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596896"/>
            <a:ext cx="83210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596896"/>
            <a:ext cx="502920" cy="685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59689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6334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Tackle Margin Erosion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9260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51% of deals are Negative Margin. Implement pricing guardrails, leverage MMR benchmarks, and train sales staff on value-based negotiation.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392424"/>
            <a:ext cx="83210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392424"/>
            <a:ext cx="502920" cy="6858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39242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4290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Focus on North East &amp; West Regions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72160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These two regions represent nearly 60% of regional sales. Targeted marketing campaigns and inventory allocation should reflect this concentration.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187952"/>
            <a:ext cx="83210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4187952"/>
            <a:ext cx="502920" cy="6858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18795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2245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 Low-Mileage Recent Models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5171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2013–2015 vehicles with &lt;40K miles command 40–170% price premiums. Source and market these aggressively for maximum unit economics.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8 of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74320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$1.36B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Ford revenue — market leader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74320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10332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Ford F-150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1673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#1 model at $272.7M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868680"/>
            <a:ext cx="2743200" cy="5486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0332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North East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0" y="1673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Highest regional sales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37744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51%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576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Transactions at negative margin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37744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46120" y="237744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2.7×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24612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Price uplift 2008→2015 models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37744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237744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SUVs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12648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Highest avg unit value segment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069080"/>
            <a:ext cx="84582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0965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Action: Address margin erosion, grow SUV &amp; luxury inventory, and double down on North East &amp; West region marketing to maximize dealership profitability.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525</Words>
  <Application>Microsoft Office PowerPoint</Application>
  <PresentationFormat>On-screen Show (16:9)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Sales Analytics Report</dc:title>
  <dc:subject>PptxGenJS Presentation</dc:subject>
  <dc:creator>PptxGenJS</dc:creator>
  <cp:lastModifiedBy>MasDon Sehaswana</cp:lastModifiedBy>
  <cp:revision>2</cp:revision>
  <dcterms:created xsi:type="dcterms:W3CDTF">2026-04-25T13:10:29Z</dcterms:created>
  <dcterms:modified xsi:type="dcterms:W3CDTF">2026-05-01T15:43:38Z</dcterms:modified>
</cp:coreProperties>
</file>